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6366F1"/>
                </a:solidFill>
              </a:defRPr>
            </a:pPr>
            <a:r>
              <a:t>SPENDNEST INTELLIGENCE BRIEF — 21 AUGUST 2026</a:t>
            </a:r>
          </a:p>
        </p:txBody>
      </p:sp>
      <p:sp>
        <p:nvSpPr>
          <p:cNvPr id="3" name="TextBox 2"/>
          <p:cNvSpPr txBox="1"/>
          <p:nvPr/>
        </p:nvSpPr>
        <p:spPr>
          <a:xfrm>
            <a:off x="731520" y="731520"/>
            <a:ext cx="10515600" cy="640080"/>
          </a:xfrm>
          <a:prstGeom prst="rect">
            <a:avLst/>
          </a:prstGeom>
          <a:noFill/>
        </p:spPr>
        <p:txBody>
          <a:bodyPr wrap="square">
            <a:spAutoFit/>
          </a:bodyPr>
          <a:lstStyle/>
          <a:p>
            <a:pPr>
              <a:defRPr sz="2400" b="1">
                <a:solidFill>
                  <a:srgbClr val="F8FAFC"/>
                </a:solidFill>
              </a:defRPr>
            </a:pPr>
            <a:r>
              <a:t>The Revenue Manager Problem &amp; Three Core Discoveries</a:t>
            </a:r>
          </a:p>
        </p:txBody>
      </p:sp>
      <p:sp>
        <p:nvSpPr>
          <p:cNvPr id="4" name="TextBox 3"/>
          <p:cNvSpPr txBox="1"/>
          <p:nvPr/>
        </p:nvSpPr>
        <p:spPr>
          <a:xfrm>
            <a:off x="731520" y="1371600"/>
            <a:ext cx="10698480" cy="1005840"/>
          </a:xfrm>
          <a:prstGeom prst="rect">
            <a:avLst/>
          </a:prstGeom>
          <a:noFill/>
        </p:spPr>
        <p:txBody>
          <a:bodyPr wrap="square">
            <a:spAutoFit/>
          </a:bodyPr>
          <a:lstStyle/>
          <a:p>
            <a:pPr>
              <a:defRPr b="1" sz="1400">
                <a:solidFill>
                  <a:srgbClr val="FBBF24"/>
                </a:solidFill>
              </a:defRPr>
            </a:pPr>
            <a:r>
              <a:t>The Manager's Core Challenge:</a:t>
            </a:r>
          </a:p>
          <a:p>
            <a:pPr>
              <a:defRPr sz="1200">
                <a:solidFill>
                  <a:srgbClr val="94A3B8"/>
                </a:solidFill>
              </a:defRPr>
            </a:pPr>
            <a:r>
              <a:t>Sales &amp; revenue managers are inundated with dozens of daily calls and meetings across fragmented CRM and VoIP records without transcript context. Out of 44 interactions, only 18 have usable conversation evidence. Synthesizing these reveals 3 critical, actionable operational discoveries:</a:t>
            </a:r>
          </a:p>
        </p:txBody>
      </p:sp>
      <p:sp>
        <p:nvSpPr>
          <p:cNvPr id="5" name="TextBox 4"/>
          <p:cNvSpPr txBox="1"/>
          <p:nvPr/>
        </p:nvSpPr>
        <p:spPr>
          <a:xfrm>
            <a:off x="731520" y="2560320"/>
            <a:ext cx="3383280" cy="3840480"/>
          </a:xfrm>
          <a:prstGeom prst="rect">
            <a:avLst/>
          </a:prstGeom>
          <a:noFill/>
        </p:spPr>
        <p:txBody>
          <a:bodyPr wrap="square">
            <a:spAutoFit/>
          </a:bodyPr>
          <a:lstStyle/>
          <a:p>
            <a:pPr>
              <a:defRPr b="1" sz="1400">
                <a:solidFill>
                  <a:srgbClr val="34D399"/>
                </a:solidFill>
              </a:defRPr>
            </a:pPr>
            <a:r>
              <a:t>1. Critical UI / Payment Bug</a:t>
            </a:r>
          </a:p>
          <a:p>
            <a:pPr>
              <a:defRPr sz="1100">
                <a:solidFill>
                  <a:srgbClr val="F8FAFC"/>
                </a:solidFill>
              </a:defRPr>
            </a:pPr>
            <a:r>
              <a:t>• Source: M07 (Willowfield Trust), Turns 2-7</a:t>
            </a:r>
            <a:br/>
            <a:r>
              <a:t>• Passage: 'The field still shows the earlier wording. So the change is not appearing after you save... I have captured screenshots... will get it checked today.'</a:t>
            </a:r>
            <a:br/>
            <a:r>
              <a:t>• Impact: Edits to event payment descriptions fail silently, and Recreate Payment blocks attachments.</a:t>
            </a:r>
            <a:br/>
            <a:r>
              <a:t>• Action: P1 engineering hotfix; account manager update.</a:t>
            </a:r>
          </a:p>
        </p:txBody>
      </p:sp>
      <p:sp>
        <p:nvSpPr>
          <p:cNvPr id="6" name="TextBox 5"/>
          <p:cNvSpPr txBox="1"/>
          <p:nvPr/>
        </p:nvSpPr>
        <p:spPr>
          <a:xfrm>
            <a:off x="4389120" y="2560320"/>
            <a:ext cx="3383280" cy="3840480"/>
          </a:xfrm>
          <a:prstGeom prst="rect">
            <a:avLst/>
          </a:prstGeom>
          <a:noFill/>
        </p:spPr>
        <p:txBody>
          <a:bodyPr wrap="square">
            <a:spAutoFit/>
          </a:bodyPr>
          <a:lstStyle/>
          <a:p>
            <a:pPr>
              <a:defRPr b="1" sz="1400">
                <a:solidFill>
                  <a:srgbClr val="6366F1"/>
                </a:solidFill>
              </a:defRPr>
            </a:pPr>
            <a:r>
              <a:t>2. Partner Misconception</a:t>
            </a:r>
          </a:p>
          <a:p>
            <a:pPr>
              <a:defRPr sz="1100">
                <a:solidFill>
                  <a:srgbClr val="F8FAFC"/>
                </a:solidFill>
              </a:defRPr>
            </a:pPr>
            <a:r>
              <a:t>• Source: M01 (Harborpath Advisory), Turns 1-2</a:t>
            </a:r>
            <a:br/>
            <a:r>
              <a:t>• Passage: 'My understanding was that you help people open bank accounts remotely... SpendNest is a spend management platform rather than a bank.'</a:t>
            </a:r>
            <a:br/>
            <a:r>
              <a:t>• Impact: Inbound partners arrive expecting retail banking services.</a:t>
            </a:r>
            <a:br/>
            <a:r>
              <a:t>• Action: Audit partner marketing; pivot to expense card referral agreements.</a:t>
            </a:r>
          </a:p>
        </p:txBody>
      </p:sp>
      <p:sp>
        <p:nvSpPr>
          <p:cNvPr id="7" name="TextBox 6"/>
          <p:cNvSpPr txBox="1"/>
          <p:nvPr/>
        </p:nvSpPr>
        <p:spPr>
          <a:xfrm>
            <a:off x="8046720" y="2560320"/>
            <a:ext cx="3383280" cy="3840480"/>
          </a:xfrm>
          <a:prstGeom prst="rect">
            <a:avLst/>
          </a:prstGeom>
          <a:noFill/>
        </p:spPr>
        <p:txBody>
          <a:bodyPr wrap="square">
            <a:spAutoFit/>
          </a:bodyPr>
          <a:lstStyle/>
          <a:p>
            <a:pPr>
              <a:defRPr b="1" sz="1400">
                <a:solidFill>
                  <a:srgbClr val="FBBF24"/>
                </a:solidFill>
              </a:defRPr>
            </a:pPr>
            <a:r>
              <a:t>3. Billing Dunning Loop</a:t>
            </a:r>
          </a:p>
          <a:p>
            <a:pPr>
              <a:defRPr sz="1100">
                <a:solidFill>
                  <a:srgbClr val="F8FAFC"/>
                </a:solidFill>
              </a:defRPr>
            </a:pPr>
            <a:r>
              <a:t>• Source: M10 (Billing Walkthrough), Turns 15-18</a:t>
            </a:r>
            <a:br/>
            <a:r>
              <a:t>• Passage: 'Simply topping up a frozen account does not complete the whole recovery flow... operations clears the invoice and unfreezes manually.'</a:t>
            </a:r>
            <a:br/>
            <a:r>
              <a:t>• Impact: Customers adding wallet funds remain locked out of cards unless ops manually intervenes.</a:t>
            </a:r>
            <a:br/>
            <a:r>
              <a:t>• Action: Automate billing webhook recovery 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6366F1"/>
                </a:solidFill>
              </a:defRPr>
            </a:pPr>
            <a:r>
              <a:t>PRODUCT DESIGN &amp; SCOPE BOUNDARIES</a:t>
            </a:r>
          </a:p>
        </p:txBody>
      </p:sp>
      <p:sp>
        <p:nvSpPr>
          <p:cNvPr id="3" name="TextBox 2"/>
          <p:cNvSpPr txBox="1"/>
          <p:nvPr/>
        </p:nvSpPr>
        <p:spPr>
          <a:xfrm>
            <a:off x="731520" y="731520"/>
            <a:ext cx="10515600" cy="640080"/>
          </a:xfrm>
          <a:prstGeom prst="rect">
            <a:avLst/>
          </a:prstGeom>
          <a:noFill/>
        </p:spPr>
        <p:txBody>
          <a:bodyPr wrap="square">
            <a:spAutoFit/>
          </a:bodyPr>
          <a:lstStyle/>
          <a:p>
            <a:pPr>
              <a:defRPr sz="2400" b="1">
                <a:solidFill>
                  <a:srgbClr val="F8FAFC"/>
                </a:solidFill>
              </a:defRPr>
            </a:pPr>
            <a:r>
              <a:t>Interface Architecture, Workflow &amp; Intentional Restraint</a:t>
            </a:r>
          </a:p>
        </p:txBody>
      </p:sp>
      <p:sp>
        <p:nvSpPr>
          <p:cNvPr id="4" name="TextBox 3"/>
          <p:cNvSpPr txBox="1"/>
          <p:nvPr/>
        </p:nvSpPr>
        <p:spPr>
          <a:xfrm>
            <a:off x="731520" y="1463040"/>
            <a:ext cx="5120640" cy="4937760"/>
          </a:xfrm>
          <a:prstGeom prst="rect">
            <a:avLst/>
          </a:prstGeom>
          <a:noFill/>
        </p:spPr>
        <p:txBody>
          <a:bodyPr wrap="square">
            <a:spAutoFit/>
          </a:bodyPr>
          <a:lstStyle/>
          <a:p>
            <a:pPr>
              <a:defRPr b="1" sz="1500">
                <a:solidFill>
                  <a:srgbClr val="6366F1"/>
                </a:solidFill>
              </a:defRPr>
            </a:pPr>
            <a:r>
              <a:t>Manager-Centric Workflow (Screens A - E)</a:t>
            </a:r>
          </a:p>
          <a:p>
            <a:pPr>
              <a:defRPr sz="1100">
                <a:solidFill>
                  <a:srgbClr val="F8FAFC"/>
                </a:solidFill>
              </a:defRPr>
            </a:pPr>
            <a:r>
              <a:t>• Screen A (Dashboard): Answers high-level executive questions: total volume (44), transcript coverage (18/44 = 40.9%), reps vs organisers segregation, and 1-click attention queue.</a:t>
            </a:r>
          </a:p>
          <a:p>
            <a:pPr>
              <a:defRPr sz="1100">
                <a:solidFill>
                  <a:srgbClr val="F8FAFC"/>
                </a:solidFill>
              </a:defRPr>
            </a:pPr>
            <a:r>
              <a:t>• Screen B (Inbox): Fast searchable workspace with multi-attribute filtering (calls vs meetings, rep, route destination, review status, transcript coverage, manual overrides).</a:t>
            </a:r>
          </a:p>
          <a:p>
            <a:pPr>
              <a:defRPr sz="1100">
                <a:solidFill>
                  <a:srgbClr val="F8FAFC"/>
                </a:solidFill>
              </a:defRPr>
            </a:pPr>
            <a:r>
              <a:t>• Screen C (Intelligence Studio): 4 distinct sections: A (Source Evidence/Turns), B (Differentiated Analysis with stated owner), C (Interactive Routing Studio), D (Audit &amp; Provenance).</a:t>
            </a:r>
          </a:p>
          <a:p>
            <a:pPr>
              <a:defRPr sz="1100">
                <a:solidFill>
                  <a:srgbClr val="F8FAFC"/>
                </a:solidFill>
              </a:defRPr>
            </a:pPr>
            <a:r>
              <a:t>• Screen D (Imports &amp; Quality): Interactive replay suite verifying idempotency, order independence, and manual route preservation across updates.</a:t>
            </a:r>
          </a:p>
          <a:p>
            <a:pPr>
              <a:defRPr sz="1100">
                <a:solidFill>
                  <a:srgbClr val="F8FAFC"/>
                </a:solidFill>
              </a:defRPr>
            </a:pPr>
            <a:r>
              <a:t>• Screen E (Exports): Generates physical ZIP archive with validated manifests and categorized folders.</a:t>
            </a:r>
          </a:p>
        </p:txBody>
      </p:sp>
      <p:sp>
        <p:nvSpPr>
          <p:cNvPr id="5" name="TextBox 4"/>
          <p:cNvSpPr txBox="1"/>
          <p:nvPr/>
        </p:nvSpPr>
        <p:spPr>
          <a:xfrm>
            <a:off x="6217920" y="1463040"/>
            <a:ext cx="5212080" cy="4937760"/>
          </a:xfrm>
          <a:prstGeom prst="rect">
            <a:avLst/>
          </a:prstGeom>
          <a:noFill/>
        </p:spPr>
        <p:txBody>
          <a:bodyPr wrap="square">
            <a:spAutoFit/>
          </a:bodyPr>
          <a:lstStyle/>
          <a:p>
            <a:pPr>
              <a:defRPr b="1" sz="1500">
                <a:solidFill>
                  <a:srgbClr val="FBBF24"/>
                </a:solidFill>
              </a:defRPr>
            </a:pPr>
            <a:r>
              <a:t>Deliberately Omitted Features &amp; Rationale</a:t>
            </a:r>
          </a:p>
          <a:p>
            <a:pPr>
              <a:defRPr sz="1100">
                <a:solidFill>
                  <a:srgbClr val="F8FAFC"/>
                </a:solidFill>
              </a:defRPr>
            </a:pPr>
            <a:r>
              <a:t>• Fabricated Summaries for Textless Records: 26 records lack transcripts. We refused to generate generic hallucinated text; instead, we routed them to 'Human Review' with an explicit caveat.</a:t>
            </a:r>
          </a:p>
          <a:p>
            <a:pPr>
              <a:defRPr sz="1100">
                <a:solidFill>
                  <a:srgbClr val="F8FAFC"/>
                </a:solidFill>
              </a:defRPr>
            </a:pPr>
            <a:r>
              <a:t>• Invented Pipeline Values &amp; Deal Stages: Source schema does not establish deal dollar sizes or probability. Inventing ARR would mislead executive forecasting.</a:t>
            </a:r>
          </a:p>
          <a:p>
            <a:pPr>
              <a:defRPr sz="1100">
                <a:solidFill>
                  <a:srgbClr val="F8FAFC"/>
                </a:solidFill>
              </a:defRPr>
            </a:pPr>
            <a:r>
              <a:t>• Automatic Overwrite of Manual Routes: When source updates arrive (M07 rev 2), AI suggestions update but never erase a human manager's manual route override.</a:t>
            </a:r>
          </a:p>
          <a:p>
            <a:pPr>
              <a:defRPr sz="1100">
                <a:solidFill>
                  <a:srgbClr val="F8FAFC"/>
                </a:solidFill>
              </a:defRPr>
            </a:pPr>
            <a:r>
              <a:t>• Single-Day Date Filters as Primary Navigation: All supplied records fall on 21 August 2026. A date picker provides zero value; functional routing and person filters drive utility.</a:t>
            </a:r>
          </a:p>
          <a:p>
            <a:pPr>
              <a:defRPr sz="1100">
                <a:solidFill>
                  <a:srgbClr val="F8FAFC"/>
                </a:solidFill>
              </a:defRPr>
            </a:pPr>
            <a:r>
              <a:t>• External Cloud AI API Dependency at Runtime: App runs completely offline/locally without requiring paid runtime LLM keys, ensuring zero API quota failures.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6366F1"/>
                </a:solidFill>
              </a:defRPr>
            </a:pPr>
            <a:r>
              <a:t>ROUTING ENGINE &amp; TRACEABILITY</a:t>
            </a:r>
          </a:p>
        </p:txBody>
      </p:sp>
      <p:sp>
        <p:nvSpPr>
          <p:cNvPr id="3" name="TextBox 2"/>
          <p:cNvSpPr txBox="1"/>
          <p:nvPr/>
        </p:nvSpPr>
        <p:spPr>
          <a:xfrm>
            <a:off x="731520" y="731520"/>
            <a:ext cx="10515600" cy="640080"/>
          </a:xfrm>
          <a:prstGeom prst="rect">
            <a:avLst/>
          </a:prstGeom>
          <a:noFill/>
        </p:spPr>
        <p:txBody>
          <a:bodyPr wrap="square">
            <a:spAutoFit/>
          </a:bodyPr>
          <a:lstStyle/>
          <a:p>
            <a:pPr>
              <a:defRPr sz="2400" b="1">
                <a:solidFill>
                  <a:srgbClr val="F8FAFC"/>
                </a:solidFill>
              </a:defRPr>
            </a:pPr>
            <a:r>
              <a:t>Functional Routing Taxonomy &amp; The Multi-Destination Case</a:t>
            </a:r>
          </a:p>
        </p:txBody>
      </p:sp>
      <p:sp>
        <p:nvSpPr>
          <p:cNvPr id="4" name="TextBox 3"/>
          <p:cNvSpPr txBox="1"/>
          <p:nvPr/>
        </p:nvSpPr>
        <p:spPr>
          <a:xfrm>
            <a:off x="731520" y="1463040"/>
            <a:ext cx="5120640" cy="4937760"/>
          </a:xfrm>
          <a:prstGeom prst="rect">
            <a:avLst/>
          </a:prstGeom>
          <a:noFill/>
        </p:spPr>
        <p:txBody>
          <a:bodyPr wrap="square">
            <a:spAutoFit/>
          </a:bodyPr>
          <a:lstStyle/>
          <a:p>
            <a:pPr>
              <a:defRPr b="1" sz="1500">
                <a:solidFill>
                  <a:srgbClr val="6366F1"/>
                </a:solidFill>
              </a:defRPr>
            </a:pPr>
            <a:r>
              <a:t>Functional Taxonomy (5 Destinations)</a:t>
            </a:r>
          </a:p>
          <a:p>
            <a:pPr>
              <a:defRPr sz="1100">
                <a:solidFill>
                  <a:srgbClr val="F8FAFC"/>
                </a:solidFill>
              </a:defRPr>
            </a:pPr>
            <a:r>
              <a:t>• 1. Sales Coaching: Pitch execution, permission openers (e.g. C01 Arun mobile call friction, C05 echo handling, M03 Asterloom value defense against price cuts).</a:t>
            </a:r>
          </a:p>
          <a:p>
            <a:pPr>
              <a:defRPr sz="1100">
                <a:solidFill>
                  <a:srgbClr val="F8FAFC"/>
                </a:solidFill>
              </a:defRPr>
            </a:pPr>
            <a:r>
              <a:t>• 2. Deal Next Steps: Commercial acceleration, partnership agreements (e.g. C07 Willowbank Advisory, M01 Harborpath referral draft, C10 invoice demo).</a:t>
            </a:r>
          </a:p>
          <a:p>
            <a:pPr>
              <a:defRPr sz="1100">
                <a:solidFill>
                  <a:srgbClr val="F8FAFC"/>
                </a:solidFill>
              </a:defRPr>
            </a:pPr>
            <a:r>
              <a:t>• 3. Customer Follow-up: Onboarding, collateral dispatch, card provisioning (e.g. C03 dropped call redial, M04 card tracking, M09 token re-issue).</a:t>
            </a:r>
          </a:p>
          <a:p>
            <a:pPr>
              <a:defRPr sz="1100">
                <a:solidFill>
                  <a:srgbClr val="F8FAFC"/>
                </a:solidFill>
              </a:defRPr>
            </a:pPr>
            <a:r>
              <a:t>• 4. Internal / Vendor Note: Technical software bugs, engineering escalation, logistics SLAs (e.g. M07 payment edit bug, M10 billing dunning engine flaw).</a:t>
            </a:r>
          </a:p>
          <a:p>
            <a:pPr>
              <a:defRPr sz="1100">
                <a:solidFill>
                  <a:srgbClr val="F8FAFC"/>
                </a:solidFill>
              </a:defRPr>
            </a:pPr>
            <a:r>
              <a:t>• 5. Human Review: Records pending transcript delivery or ambiguous lead sourcing compliance.</a:t>
            </a:r>
          </a:p>
        </p:txBody>
      </p:sp>
      <p:sp>
        <p:nvSpPr>
          <p:cNvPr id="5" name="TextBox 4"/>
          <p:cNvSpPr txBox="1"/>
          <p:nvPr/>
        </p:nvSpPr>
        <p:spPr>
          <a:xfrm>
            <a:off x="6217920" y="1463040"/>
            <a:ext cx="5212080" cy="4937760"/>
          </a:xfrm>
          <a:prstGeom prst="rect">
            <a:avLst/>
          </a:prstGeom>
          <a:noFill/>
        </p:spPr>
        <p:txBody>
          <a:bodyPr wrap="square">
            <a:spAutoFit/>
          </a:bodyPr>
          <a:lstStyle/>
          <a:p>
            <a:pPr>
              <a:defRPr b="1" sz="1500">
                <a:solidFill>
                  <a:srgbClr val="34D399"/>
                </a:solidFill>
              </a:defRPr>
            </a:pPr>
            <a:r>
              <a:t>Complex Case: M07 (Willowfield Trust)</a:t>
            </a:r>
          </a:p>
          <a:p>
            <a:pPr>
              <a:defRPr sz="1100">
                <a:solidFill>
                  <a:srgbClr val="F8FAFC"/>
                </a:solidFill>
              </a:defRPr>
            </a:pPr>
            <a:r>
              <a:t>The Routing Dilemma: M07 is a support &amp; debugging session where a customer demonstrates a software bug. Does it belong to Support, Product Engineering, or Account Management?</a:t>
            </a:r>
          </a:p>
          <a:p>
            <a:pPr>
              <a:defRPr sz="1100">
                <a:solidFill>
                  <a:srgbClr val="F8FAFC"/>
                </a:solidFill>
              </a:defRPr>
            </a:pPr>
            <a:r>
              <a:t>Why Single-Route Fails: If routed solely to 'Internal / Vendor Note', engineering gets the bug ticket but the customer is forgotten. If routed solely to 'Customer Follow-up', engineering never receives the reproduction screenshots.</a:t>
            </a:r>
          </a:p>
          <a:p>
            <a:pPr>
              <a:defRPr sz="1100">
                <a:solidFill>
                  <a:srgbClr val="F8FAFC"/>
                </a:solidFill>
              </a:defRPr>
            </a:pPr>
            <a:r>
              <a:t>Our Multi-Destination Solution: M07 is routed to BOTH:</a:t>
            </a:r>
          </a:p>
          <a:p>
            <a:pPr>
              <a:defRPr sz="1100">
                <a:solidFill>
                  <a:srgbClr val="F8FAFC"/>
                </a:solidFill>
              </a:defRPr>
            </a:pPr>
            <a:r>
              <a:t>  -&gt; Internal / Vendor Note: Urgent P1 bug ticket for description persistence and upload block (citing Turn 7).</a:t>
            </a:r>
          </a:p>
          <a:p>
            <a:pPr>
              <a:defRPr sz="1100">
                <a:solidFill>
                  <a:srgbClr val="F8FAFC"/>
                </a:solidFill>
              </a:defRPr>
            </a:pPr>
            <a:r>
              <a:t>  -&gt; Customer Follow-up: Account manager follow-up to update customer once hotfix is deployed.</a:t>
            </a:r>
          </a:p>
          <a:p>
            <a:pPr>
              <a:defRPr sz="1100">
                <a:solidFill>
                  <a:srgbClr val="F8FAFC"/>
                </a:solidFill>
              </a:defRPr>
            </a:pPr>
            <a:r>
              <a:t>Fidelity Guarantee: Recorded as ONE unique source record in SQLite. No double-counting in headline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6366F1"/>
                </a:solidFill>
              </a:defRPr>
            </a:pPr>
            <a:r>
              <a:t>DATA AUDITABILITY &amp; GROUNDED TRUTH</a:t>
            </a:r>
          </a:p>
        </p:txBody>
      </p:sp>
      <p:sp>
        <p:nvSpPr>
          <p:cNvPr id="3" name="TextBox 2"/>
          <p:cNvSpPr txBox="1"/>
          <p:nvPr/>
        </p:nvSpPr>
        <p:spPr>
          <a:xfrm>
            <a:off x="731520" y="731520"/>
            <a:ext cx="10515600" cy="640080"/>
          </a:xfrm>
          <a:prstGeom prst="rect">
            <a:avLst/>
          </a:prstGeom>
          <a:noFill/>
        </p:spPr>
        <p:txBody>
          <a:bodyPr wrap="square">
            <a:spAutoFit/>
          </a:bodyPr>
          <a:lstStyle/>
          <a:p>
            <a:pPr>
              <a:defRPr sz="2400" b="1">
                <a:solidFill>
                  <a:srgbClr val="F8FAFC"/>
                </a:solidFill>
              </a:defRPr>
            </a:pPr>
            <a:r>
              <a:t>Evidence Verification: Headline Metric &amp; Analytical Conclusion</a:t>
            </a:r>
          </a:p>
        </p:txBody>
      </p:sp>
      <p:sp>
        <p:nvSpPr>
          <p:cNvPr id="4" name="TextBox 3"/>
          <p:cNvSpPr txBox="1"/>
          <p:nvPr/>
        </p:nvSpPr>
        <p:spPr>
          <a:xfrm>
            <a:off x="731520" y="1463040"/>
            <a:ext cx="5120640" cy="4937760"/>
          </a:xfrm>
          <a:prstGeom prst="rect">
            <a:avLst/>
          </a:prstGeom>
          <a:noFill/>
        </p:spPr>
        <p:txBody>
          <a:bodyPr wrap="square">
            <a:spAutoFit/>
          </a:bodyPr>
          <a:lstStyle/>
          <a:p>
            <a:pPr>
              <a:defRPr b="1" sz="1500">
                <a:solidFill>
                  <a:srgbClr val="6366F1"/>
                </a:solidFill>
              </a:defRPr>
            </a:pPr>
            <a:r>
              <a:t>Metric Audit: Usable Transcript Coverage</a:t>
            </a:r>
          </a:p>
          <a:p>
            <a:pPr>
              <a:defRPr sz="1100">
                <a:solidFill>
                  <a:srgbClr val="F8FAFC"/>
                </a:solidFill>
              </a:defRPr>
            </a:pPr>
            <a:r>
              <a:t>• Headline Metric: Usable Transcript Coverage = 40.9% (18/44)</a:t>
            </a:r>
          </a:p>
          <a:p>
            <a:pPr>
              <a:defRPr sz="1100">
                <a:solidFill>
                  <a:srgbClr val="F8FAFC"/>
                </a:solidFill>
              </a:defRPr>
            </a:pPr>
            <a:r>
              <a:t>• Numerator Validation: 10 Calls (C01-C10 with payload.transcript) + 8 Meetings (M01-M04, M06, M07, M09, M10 with turns array). Total = 18.</a:t>
            </a:r>
          </a:p>
          <a:p>
            <a:pPr>
              <a:defRPr sz="1100">
                <a:solidFill>
                  <a:srgbClr val="F8FAFC"/>
                </a:solidFill>
              </a:defRPr>
            </a:pPr>
            <a:r>
              <a:t>• Denominator Validation: 44 unique logical source records (30 calls + 14 meetings) keyed by (source_type, source_id).</a:t>
            </a:r>
          </a:p>
          <a:p>
            <a:pPr>
              <a:defRPr sz="1100">
                <a:solidFill>
                  <a:srgbClr val="F8FAFC"/>
                </a:solidFill>
              </a:defRPr>
            </a:pPr>
            <a:r>
              <a:t>• Reconciliation Against Update: Initial delivery had 17 transcripts (38.6%). 02_update.json supplied M07's 27-turn transcript, lifting count to exactly 18 (40.9%).</a:t>
            </a:r>
          </a:p>
          <a:p>
            <a:pPr>
              <a:defRPr sz="1100">
                <a:solidFill>
                  <a:srgbClr val="F8FAFC"/>
                </a:solidFill>
              </a:defRPr>
            </a:pPr>
            <a:r>
              <a:t>• Idempotency Verification: Replaying batches in forward or reverse order leaves count strictly at 44 and coverage strictly at 40.9%. Zero metric inflation.</a:t>
            </a:r>
          </a:p>
        </p:txBody>
      </p:sp>
      <p:sp>
        <p:nvSpPr>
          <p:cNvPr id="5" name="TextBox 4"/>
          <p:cNvSpPr txBox="1"/>
          <p:nvPr/>
        </p:nvSpPr>
        <p:spPr>
          <a:xfrm>
            <a:off x="6217920" y="1463040"/>
            <a:ext cx="5212080" cy="4937760"/>
          </a:xfrm>
          <a:prstGeom prst="rect">
            <a:avLst/>
          </a:prstGeom>
          <a:noFill/>
        </p:spPr>
        <p:txBody>
          <a:bodyPr wrap="square">
            <a:spAutoFit/>
          </a:bodyPr>
          <a:lstStyle/>
          <a:p>
            <a:pPr>
              <a:defRPr b="1" sz="1500">
                <a:solidFill>
                  <a:srgbClr val="34D399"/>
                </a:solidFill>
              </a:defRPr>
            </a:pPr>
            <a:r>
              <a:t>Analytical Audit: M10 Dunning Lockout</a:t>
            </a:r>
          </a:p>
          <a:p>
            <a:pPr>
              <a:defRPr sz="1100">
                <a:solidFill>
                  <a:srgbClr val="F8FAFC"/>
                </a:solidFill>
              </a:defRPr>
            </a:pPr>
            <a:r>
              <a:t>• Analytical Conclusion: Customers adding funds to wallet after invoice failure remain frozen; recovery requires manual operations intervention.</a:t>
            </a:r>
          </a:p>
          <a:p>
            <a:pPr>
              <a:defRPr sz="1100">
                <a:solidFill>
                  <a:srgbClr val="F8FAFC"/>
                </a:solidFill>
              </a:defRPr>
            </a:pPr>
            <a:r>
              <a:t>• Source Evidence (Turn 15): 'Suppose the invoice is INR 6,240 but the wallet contains INR 6,110. The deduction fails and a notification goes out. The system tries three times.'</a:t>
            </a:r>
          </a:p>
          <a:p>
            <a:pPr>
              <a:defRPr sz="1100">
                <a:solidFill>
                  <a:srgbClr val="F8FAFC"/>
                </a:solidFill>
              </a:defRPr>
            </a:pPr>
            <a:r>
              <a:t>• Source Evidence (Turn 17): 'On the tenth day... payments and cards can be blocked... Simply topping up a frozen account does not complete the whole recovery flow in this process.'</a:t>
            </a:r>
          </a:p>
          <a:p>
            <a:pPr>
              <a:defRPr sz="1100">
                <a:solidFill>
                  <a:srgbClr val="F8FAFC"/>
                </a:solidFill>
              </a:defRPr>
            </a:pPr>
            <a:r>
              <a:t>• Source Evidence (Turn 18): 'The customer must tell us, then operations clears the outstanding invoice and unfreezes the account... adjust the next billing date manually.'</a:t>
            </a:r>
          </a:p>
          <a:p>
            <a:pPr>
              <a:defRPr sz="1100">
                <a:solidFill>
                  <a:srgbClr val="F8FAFC"/>
                </a:solidFill>
              </a:defRPr>
            </a:pPr>
            <a:r>
              <a:t>• Traceability Link: Directly grounded in verbatim transcript text. Zero extrapolation beyond stated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6366F1"/>
                </a:solidFill>
              </a:defRPr>
            </a:pPr>
            <a:r>
              <a:t>ENGINEERING GOVERNANCE &amp; TRANSPARENCY</a:t>
            </a:r>
          </a:p>
        </p:txBody>
      </p:sp>
      <p:sp>
        <p:nvSpPr>
          <p:cNvPr id="3" name="TextBox 2"/>
          <p:cNvSpPr txBox="1"/>
          <p:nvPr/>
        </p:nvSpPr>
        <p:spPr>
          <a:xfrm>
            <a:off x="731520" y="731520"/>
            <a:ext cx="10515600" cy="640080"/>
          </a:xfrm>
          <a:prstGeom prst="rect">
            <a:avLst/>
          </a:prstGeom>
          <a:noFill/>
        </p:spPr>
        <p:txBody>
          <a:bodyPr wrap="square">
            <a:spAutoFit/>
          </a:bodyPr>
          <a:lstStyle/>
          <a:p>
            <a:pPr>
              <a:defRPr sz="2400" b="1">
                <a:solidFill>
                  <a:srgbClr val="F8FAFC"/>
                </a:solidFill>
              </a:defRPr>
            </a:pPr>
            <a:r>
              <a:t>Design Trade-offs, The Rejected Alternative &amp; Limitations</a:t>
            </a:r>
          </a:p>
        </p:txBody>
      </p:sp>
      <p:sp>
        <p:nvSpPr>
          <p:cNvPr id="4" name="TextBox 3"/>
          <p:cNvSpPr txBox="1"/>
          <p:nvPr/>
        </p:nvSpPr>
        <p:spPr>
          <a:xfrm>
            <a:off x="731520" y="1463040"/>
            <a:ext cx="5120640" cy="4937760"/>
          </a:xfrm>
          <a:prstGeom prst="rect">
            <a:avLst/>
          </a:prstGeom>
          <a:noFill/>
        </p:spPr>
        <p:txBody>
          <a:bodyPr wrap="square">
            <a:spAutoFit/>
          </a:bodyPr>
          <a:lstStyle/>
          <a:p>
            <a:pPr>
              <a:defRPr b="1" sz="1500">
                <a:solidFill>
                  <a:srgbClr val="FBBF24"/>
                </a:solidFill>
              </a:defRPr>
            </a:pPr>
            <a:r>
              <a:t>The Deliberately Rejected Decision</a:t>
            </a:r>
          </a:p>
          <a:p>
            <a:pPr>
              <a:defRPr sz="1100">
                <a:solidFill>
                  <a:srgbClr val="F8FAFC"/>
                </a:solidFill>
              </a:defRPr>
            </a:pPr>
            <a:r>
              <a:t>• The Candidate Alternative: Forcing every conversation into exactly one single route category.</a:t>
            </a:r>
          </a:p>
          <a:p>
            <a:pPr>
              <a:defRPr sz="1100">
                <a:solidFill>
                  <a:srgbClr val="F8FAFC"/>
                </a:solidFill>
              </a:defRPr>
            </a:pPr>
            <a:r>
              <a:t>• Why It Seemed Appealing: Simpler database schema (1:1 relationship), easier pie charts, and clean single-column export tables.</a:t>
            </a:r>
          </a:p>
          <a:p>
            <a:pPr>
              <a:defRPr sz="1100">
                <a:solidFill>
                  <a:srgbClr val="F8FAFC"/>
                </a:solidFill>
              </a:defRPr>
            </a:pPr>
            <a:r>
              <a:t>• Why We Rejected It: Real enterprise conversations are cross-functional. M07 requires both an engineering bug ticket and a customer follow-up. Forcing a single route suppresses critical downstream actions.</a:t>
            </a:r>
          </a:p>
          <a:p>
            <a:pPr>
              <a:defRPr sz="1100">
                <a:solidFill>
                  <a:srgbClr val="F8FAFC"/>
                </a:solidFill>
              </a:defRPr>
            </a:pPr>
            <a:r>
              <a:t>• The Trade-off Accepted: Dashboard must distinguish unique source records (44) from route counts (53 total route assignments) to avoid double-counting.</a:t>
            </a:r>
          </a:p>
          <a:p>
            <a:pPr>
              <a:defRPr sz="1100">
                <a:solidFill>
                  <a:srgbClr val="F8FAFC"/>
                </a:solidFill>
              </a:defRPr>
            </a:pPr>
            <a:r>
              <a:t>• Visibility in Product: Visible in Screen A (Route Distribution breakdown) and Screen E (Multi-folder export manifest mapping).</a:t>
            </a:r>
          </a:p>
        </p:txBody>
      </p:sp>
      <p:sp>
        <p:nvSpPr>
          <p:cNvPr id="5" name="TextBox 4"/>
          <p:cNvSpPr txBox="1"/>
          <p:nvPr/>
        </p:nvSpPr>
        <p:spPr>
          <a:xfrm>
            <a:off x="6217920" y="1463040"/>
            <a:ext cx="5212080" cy="4937760"/>
          </a:xfrm>
          <a:prstGeom prst="rect">
            <a:avLst/>
          </a:prstGeom>
          <a:noFill/>
        </p:spPr>
        <p:txBody>
          <a:bodyPr wrap="square">
            <a:spAutoFit/>
          </a:bodyPr>
          <a:lstStyle/>
          <a:p>
            <a:pPr>
              <a:defRPr b="1" sz="1500">
                <a:solidFill>
                  <a:srgbClr val="6366F1"/>
                </a:solidFill>
              </a:defRPr>
            </a:pPr>
            <a:r>
              <a:t>AI Usage, Limitations &amp; Honest Disclosures</a:t>
            </a:r>
          </a:p>
          <a:p>
            <a:pPr>
              <a:defRPr sz="1100">
                <a:solidFill>
                  <a:srgbClr val="F8FAFC"/>
                </a:solidFill>
              </a:defRPr>
            </a:pPr>
            <a:r>
              <a:t>• AI Usage Disclosure: AI was utilized during offline development to structure evidence extractions and scaffold Next.js UI code. At runtime, the application uses zero external AI APIs, running purely deterministic, evidence-grounded queries.</a:t>
            </a:r>
          </a:p>
          <a:p>
            <a:pPr>
              <a:defRPr sz="1100">
                <a:solidFill>
                  <a:srgbClr val="F8FAFC"/>
                </a:solidFill>
              </a:defRPr>
            </a:pPr>
            <a:r>
              <a:t>• Data Limitations: 26 of 44 records have no transcript text. We disclose this limitation honestly rather than hallucinating conversations.</a:t>
            </a:r>
          </a:p>
          <a:p>
            <a:pPr>
              <a:defRPr sz="1100">
                <a:solidFill>
                  <a:srgbClr val="F8FAFC"/>
                </a:solidFill>
              </a:defRPr>
            </a:pPr>
            <a:r>
              <a:t>• Single Date Boundary: All supplied records occurred on 2026-08-21 (Asia/Kolkata). Time filtering is supported, but date filtering provides single-day context.</a:t>
            </a:r>
          </a:p>
          <a:p>
            <a:pPr>
              <a:defRPr sz="1100">
                <a:solidFill>
                  <a:srgbClr val="F8FAFC"/>
                </a:solidFill>
              </a:defRPr>
            </a:pPr>
            <a:r>
              <a:t>• Estimated Effort: ~7.5 hours invested across data inspection, Next.js full-stack development, SQLite Drizzle schema, export ZIP pipeline, and test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